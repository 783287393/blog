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754880" y="2011680"/>
            <a:ext cx="6675120" cy="0"/>
          </a:xfrm>
          <a:prstGeom prst="line">
            <a:avLst/>
          </a:prstGeom>
          <a:ln w="381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754880" y="2286000"/>
            <a:ext cx="6858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实验01</a:t>
            </a:r>
            <a:br/>
            <a:r>
              <a:t>开源个人博客系统二次开发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11480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8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基于 Ghost 6.63.0 的自定义主题与自主功能开发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5120640"/>
            <a:ext cx="301752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0" y="53035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课程实验汇报  |  2026年9月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OSS</a:t>
            </a:r>
            <a:br/>
            <a:r>
              <a:t>BLOG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D4E5F7"/>
                </a:solidFill>
                <a:latin typeface="微软雅黑" panose="020B0503020204020204" charset="-122"/>
              </a:defRPr>
            </a:pPr>
            <a:r>
              <a:t>Open Source Blog System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732145" y="4663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主讲人：隋圣丹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8288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实验目标与技术栈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明确实验要求，选定技术路线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834640"/>
            <a:ext cx="502920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0" y="18288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8745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系统架构与功能总览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2860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Ghost 架构解析，功能模块划分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2834640"/>
            <a:ext cx="502920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9718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前台展示与交互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290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首页、文章详情、搜索、标签页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3977640"/>
            <a:ext cx="502920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0" y="29718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0175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自定义主题开发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4290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基于 Source 主题的 5 文件修改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3977640"/>
            <a:ext cx="502920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1148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1605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自主功能：相关文章推荐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720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按主标签匹配同主题文章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5120640"/>
            <a:ext cx="502920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41148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1605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管理后台与会员评论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5720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内容管理、会员体系、评论互动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0" y="5120640"/>
            <a:ext cx="502920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52578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3035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Git 协作过程证据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7150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Feature Branch、PR、Code Review、Tag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2578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3035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测试验证与总结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7150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45 项测试全部通过，实验收获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实验目标与技术栈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OBJECTIVES &amp; TECH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实验目标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057400"/>
            <a:ext cx="1280160" cy="0"/>
          </a:xfrm>
          <a:prstGeom prst="line">
            <a:avLst/>
          </a:prstGeom>
          <a:ln w="254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28600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3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1. 掌握开源博客系统 Ghost 的安装与配置</a:t>
            </a:r>
          </a:p>
          <a:p>
            <a:pPr algn="l">
              <a:lnSpc>
                <a:spcPct val="160000"/>
              </a:lnSpc>
              <a:defRPr sz="13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2. 理解 Ghost 主题开发机制（Handlebars 模板）</a:t>
            </a:r>
          </a:p>
          <a:p>
            <a:pPr algn="l">
              <a:lnSpc>
                <a:spcPct val="160000"/>
              </a:lnSpc>
              <a:defRPr sz="13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3. 完成自定义主题二次开发（导航、卡片、详情页）</a:t>
            </a:r>
          </a:p>
          <a:p>
            <a:pPr algn="l">
              <a:lnSpc>
                <a:spcPct val="160000"/>
              </a:lnSpc>
              <a:defRPr sz="13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4. 实现自主功能：相关文章推荐</a:t>
            </a:r>
          </a:p>
          <a:p>
            <a:pPr algn="l">
              <a:lnSpc>
                <a:spcPct val="160000"/>
              </a:lnSpc>
              <a:defRPr sz="13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5. 建立会员体系并验证评论互动功能</a:t>
            </a:r>
          </a:p>
          <a:p>
            <a:pPr algn="l">
              <a:lnSpc>
                <a:spcPct val="160000"/>
              </a:lnSpc>
              <a:defRPr sz="13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6. 使用 Git 完成 Feature Branch + PR 协作流程</a:t>
            </a:r>
          </a:p>
          <a:p>
            <a:pPr algn="l">
              <a:lnSpc>
                <a:spcPct val="160000"/>
              </a:lnSpc>
              <a:defRPr sz="13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7. 完成测试验证与文档交付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技术栈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2057400"/>
            <a:ext cx="1280160" cy="0"/>
          </a:xfrm>
          <a:prstGeom prst="line">
            <a:avLst/>
          </a:prstGeom>
          <a:ln w="254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00800" y="2286000"/>
            <a:ext cx="1463040" cy="36576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运行时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3317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Consolas" panose="020B0609020204030204"/>
              </a:defRPr>
            </a:pPr>
            <a:r>
              <a:t>Node.js v22.23.2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761488"/>
            <a:ext cx="1463040" cy="36576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0720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博客系统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072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Consolas" panose="020B0609020204030204"/>
              </a:defRPr>
            </a:pPr>
            <a:r>
              <a:t>Ghost 6.63.0 (development)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236976"/>
            <a:ext cx="1463040" cy="36576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82696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数据库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28269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Consolas" panose="020B0609020204030204"/>
              </a:defRPr>
            </a:pPr>
            <a:r>
              <a:t>SQLite (本地文件)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712464"/>
            <a:ext cx="1463040" cy="36576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5818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主题引擎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75818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Consolas" panose="020B0609020204030204"/>
              </a:defRPr>
            </a:pPr>
            <a:r>
              <a:t>Handlebars + Ghost Theme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87952"/>
            <a:ext cx="1463040" cy="36576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336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上游主题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23367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Consolas" panose="020B0609020204030204"/>
              </a:defRPr>
            </a:pPr>
            <a:r>
              <a:t>TryGhost/Source 1.7.4 (MIT)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663440"/>
            <a:ext cx="1463040" cy="36576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70916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自定义主题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7091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Consolas" panose="020B0609020204030204"/>
              </a:defRPr>
            </a:pPr>
            <a:r>
              <a:t>oss-blog-theme v1.0.0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138928"/>
            <a:ext cx="1463040" cy="36576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18464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版本控制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8464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Consolas" panose="020B0609020204030204"/>
              </a:defRPr>
            </a:pPr>
            <a:r>
              <a:t>Git + GitHub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614416"/>
            <a:ext cx="1463040" cy="36576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660136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端口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66013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Consolas" panose="020B0609020204030204"/>
              </a:defRPr>
            </a:pPr>
            <a:r>
              <a:t>http://localhost:2368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SYSTEM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71600" y="1371600"/>
            <a:ext cx="6400800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表现层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7452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D4E5F7"/>
                </a:solidFill>
                <a:latin typeface="微软雅黑" panose="020B0503020204020204" charset="-122"/>
              </a:defRPr>
            </a:pPr>
            <a:r>
              <a:t>自定义主题 oss-blog-theme</a:t>
            </a:r>
            <a:br/>
            <a:r>
              <a:t>(Handlebars 模板 + CSS)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774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600" b="0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6400800" cy="100584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880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应用层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4612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D4E5F7"/>
                </a:solidFill>
                <a:latin typeface="微软雅黑" panose="020B0503020204020204" charset="-122"/>
              </a:defRPr>
            </a:pPr>
            <a:r>
              <a:t>Ghost Core 6.63.0</a:t>
            </a:r>
            <a:br/>
            <a:r>
              <a:t>(内容管理 / 会员 / 评论 / 搜索 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749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600" b="0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114800"/>
            <a:ext cx="6400800" cy="10058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2519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1772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D4E5F7"/>
                </a:solidFill>
                <a:latin typeface="微软雅黑" panose="020B0503020204020204" charset="-122"/>
              </a:defRPr>
            </a:pPr>
            <a:r>
              <a:t>SQLite 数据库</a:t>
            </a:r>
            <a:br/>
            <a:r>
              <a:t>(ghost-local.db)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关键组件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0" y="2057400"/>
            <a:ext cx="1188720" cy="0"/>
          </a:xfrm>
          <a:prstGeom prst="line">
            <a:avLst/>
          </a:prstGeom>
          <a:ln w="254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Ghost CLI - 安装与管理</a:t>
            </a:r>
          </a:p>
          <a:p>
            <a:pPr algn="l">
              <a:lnSpc>
                <a:spcPct val="18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Content API - 前台数据接口</a:t>
            </a:r>
          </a:p>
          <a:p>
            <a:pPr algn="l">
              <a:lnSpc>
                <a:spcPct val="18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Admin API - 后台管理接口</a:t>
            </a:r>
          </a:p>
          <a:p>
            <a:pPr algn="l">
              <a:lnSpc>
                <a:spcPct val="18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Members API - 会员与评论</a:t>
            </a:r>
          </a:p>
          <a:p>
            <a:pPr algn="l">
              <a:lnSpc>
                <a:spcPct val="18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Theme Engine - Handlebars 渲染</a:t>
            </a:r>
          </a:p>
          <a:p>
            <a:pPr algn="l">
              <a:lnSpc>
                <a:spcPct val="18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SQLite - 本地持久化存储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003087"/>
                </a:solidFill>
                <a:latin typeface="Consolas" panose="020B0609020204030204"/>
              </a:defRPr>
            </a:pPr>
            <a:r>
              <a:t>运行模式：development  |  数据库：SQLite (D:\oss-blog\runtime\content\data\ghost-local.db)  |  监听端口：2368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功能总览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FEATURES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73736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56616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前台展示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首页文章列表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文章详情页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标签归档页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原生搜索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56616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0116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自定义主题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06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导航标签快捷入口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卡片阅读时长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详情页全标签展示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自定义 CSS 样式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73736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737360"/>
            <a:ext cx="356616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1965960"/>
            <a:ext cx="457200" cy="45720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011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0116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自主功能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06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相关文章推荐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按主标签匹配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最多 4 篇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无相关时回退最新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2336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23360"/>
            <a:ext cx="356616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297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2976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会员评论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92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2 名测试会员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Impersonate 模拟登录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评论发表与管理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SMTP 测试服务器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02336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4023360"/>
            <a:ext cx="356616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4251960"/>
            <a:ext cx="457200" cy="45720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297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42976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管理后台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892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文章管理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标签管理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会员管理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评论审核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402336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023360"/>
            <a:ext cx="356616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6760" y="4251960"/>
            <a:ext cx="457200" cy="45720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4297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2976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Git 协作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892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Feature Branch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Pull Request #1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Code Review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v1.0-lab Tag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前台展示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FRONTEND - HOME &amp; POST DETAIL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5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首页 - 文章列表</a:t>
            </a:r>
          </a:p>
        </p:txBody>
      </p:sp>
      <p:pic>
        <p:nvPicPr>
          <p:cNvPr id="7" name="Picture 6" descr="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303520" cy="28174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5544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5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文章详情页</a:t>
            </a:r>
          </a:p>
        </p:txBody>
      </p:sp>
      <p:pic>
        <p:nvPicPr>
          <p:cNvPr id="9" name="Picture 8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5303520" cy="281749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自定义主题特性：导航栏标签快捷入口（博客开发/开源软件） | 文章卡片显示阅读时长 | 详情页展示全标签 + 作者信息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搜索与标签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SEARCH &amp; TAG ARCHIVE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5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原生搜索 - 中文关键词命中</a:t>
            </a:r>
          </a:p>
        </p:txBody>
      </p:sp>
      <p:pic>
        <p:nvPicPr>
          <p:cNvPr id="7" name="Picture 6" descr="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303520" cy="26654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5544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5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标签归档页 - 博客开发</a:t>
            </a:r>
          </a:p>
        </p:txBody>
      </p:sp>
      <p:pic>
        <p:nvPicPr>
          <p:cNvPr id="9" name="Picture 8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5303520" cy="270208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搜索：Ghost 原生 data-ghost-search，中文关键词正常命中，无结果时有提示  |  标签：3 个标签（开源软件/软件工程/博客开发），导航栏可快速跳转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自定义主题开发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CUSTOM THEME - oss-blog-theme v1.0.0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修改的 5 个文件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057400"/>
            <a:ext cx="1463040" cy="0"/>
          </a:xfrm>
          <a:prstGeom prst="line">
            <a:avLst/>
          </a:prstGeom>
          <a:ln w="254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286000"/>
            <a:ext cx="137160" cy="45720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3087"/>
                </a:solidFill>
                <a:latin typeface="Consolas" panose="020B0609020204030204"/>
              </a:defRPr>
            </a:pPr>
            <a:r>
              <a:t>navigation.hbs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导航栏添加标签快捷入口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137160" cy="45720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3087"/>
                </a:solidFill>
                <a:latin typeface="Consolas" panose="020B0609020204030204"/>
              </a:defRPr>
            </a:pPr>
            <a:r>
              <a:t>post-card.hbs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文章卡片显示阅读时长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137160" cy="45720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3087"/>
                </a:solidFill>
                <a:latin typeface="Consolas" panose="020B0609020204030204"/>
              </a:defRPr>
            </a:pPr>
            <a:r>
              <a:t>post.hbs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详情页展示全标签 + 相关文章推荐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06240"/>
            <a:ext cx="137160" cy="45720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2452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3087"/>
                </a:solidFill>
                <a:latin typeface="Consolas" panose="020B0609020204030204"/>
              </a:defRPr>
            </a:pPr>
            <a:r>
              <a:t>default.hbs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注入自定义 CSS 样式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137160" cy="45720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6460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3087"/>
                </a:solidFill>
                <a:latin typeface="Consolas" panose="020B0609020204030204"/>
              </a:defRPr>
            </a:pPr>
            <a:r>
              <a:t>package.json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主题名称与版本号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管理后台 - 主题已激活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2057400"/>
            <a:ext cx="2286000" cy="0"/>
          </a:xfrm>
          <a:prstGeom prst="line">
            <a:avLst/>
          </a:prstGeom>
          <a:ln w="254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377440"/>
            <a:ext cx="5303520" cy="12201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003087"/>
                </a:solidFill>
                <a:latin typeface="Consolas" panose="020B0609020204030204"/>
              </a:defRPr>
            </a:pPr>
            <a:r>
              <a:t>上游主题：TryGhost/Source 1.7.4 (MIT License)  |  自定义主题：oss-blog-theme v1.0.0  |  已打包 zip 并上传激活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自主功能：相关文章推荐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FEATURE - RELATED POSTS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功能设计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057400"/>
            <a:ext cx="1097280" cy="0"/>
          </a:xfrm>
          <a:prstGeom prst="line">
            <a:avLst/>
          </a:prstGeom>
          <a:ln w="254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286000"/>
            <a:ext cx="137160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匹配逻辑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774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取当前文章的第一个主标签，</a:t>
            </a:r>
            <a:br/>
            <a:r>
              <a:t>筛选同标签的其他文章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137160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数量控制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1089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最多展示 4 篇相关文章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137160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86199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排除当前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40479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自动排除当前文章本身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137160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回退策略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5720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无相关文章时，回退展示最新文章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12080"/>
            <a:ext cx="137160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展示位置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035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文章详情页底部，评论区上方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核心实现 (post.hbs)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2057400"/>
            <a:ext cx="2560320" cy="0"/>
          </a:xfrm>
          <a:prstGeom prst="line">
            <a:avLst/>
          </a:prstGeom>
          <a:ln w="254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0" y="2377440"/>
            <a:ext cx="530352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1460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{{#get "posts"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filter="tags:[{{post.primary_tag.slug}}]+id:-{{post.id}}"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limit="4"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include="tags"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order="published_at desc"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}}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{{#if posts}}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  &lt;section class="related-posts"&gt;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    &lt;h3&gt;相关文章推荐&lt;/h3&gt;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    {{#foreach posts}}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      {{&gt; "post-card"}}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    {{/foreach}}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  &lt;/section&gt;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{{else}}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  {{! 回退：展示最新文章 }}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  {{/if}}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E2E8F0"/>
                </a:solidFill>
                <a:latin typeface="Consolas" panose="020B0609020204030204"/>
              </a:defRPr>
            </a:pPr>
            <a:r>
              <a:t>{{/get}}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管理后台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ADMIN DASHBOARD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5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Analytics 仪表盘</a:t>
            </a:r>
          </a:p>
        </p:txBody>
      </p:sp>
      <p:pic>
        <p:nvPicPr>
          <p:cNvPr id="7" name="Picture 6" descr="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303520" cy="28174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5544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5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文章管理 - 8 篇已发布</a:t>
            </a:r>
          </a:p>
        </p:txBody>
      </p:sp>
      <p:pic>
        <p:nvPicPr>
          <p:cNvPr id="9" name="Picture 8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5303520" cy="281749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003087"/>
                </a:solidFill>
                <a:latin typeface="Consolas" panose="020B0609020204030204"/>
              </a:defRPr>
            </a:pPr>
            <a:r>
              <a:t>管理后台：http://localhost:2368/ghost  |  管理员：admin@blog.local  |  内容：8 篇中文文章 + 3 个标签，通过 Ghost 导入功能批量导入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会员与评论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MEMBERS &amp; COMMENTS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5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会员管理 - 2 名测试会员</a:t>
            </a:r>
          </a:p>
        </p:txBody>
      </p:sp>
      <p:pic>
        <p:nvPicPr>
          <p:cNvPr id="7" name="Picture 6" descr="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303520" cy="2519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5544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5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评论管理 - 会员互动验证</a:t>
            </a:r>
          </a:p>
        </p:txBody>
      </p:sp>
      <p:pic>
        <p:nvPicPr>
          <p:cNvPr id="9" name="Picture 8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5303520" cy="25315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003087"/>
                </a:solidFill>
                <a:latin typeface="Consolas" panose="020B0609020204030204"/>
              </a:defRPr>
            </a:pPr>
            <a:r>
              <a:t>会员甲(member1@blog.local) / 会员乙(member2@blog.local)  |  Impersonate 模拟登录  |  评论功能依赖 SMTP 测试服务器(127.0.0.1:1025)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Git 协作流程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GIT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Feature Branch + Pull Request 协作流程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057400"/>
            <a:ext cx="3566160" cy="0"/>
          </a:xfrm>
          <a:prstGeom prst="line">
            <a:avLst/>
          </a:prstGeom>
          <a:ln w="254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286000"/>
            <a:ext cx="45720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main 分支初始化项目基线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14600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4A3B8"/>
                </a:solidFill>
                <a:latin typeface="Consolas" panose="020B0609020204030204"/>
              </a:defRPr>
            </a:pPr>
            <a:r>
              <a:t>git init + 初始提交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45720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620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8892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创建 feature/custom-theme 分支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17520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4A3B8"/>
                </a:solidFill>
                <a:latin typeface="Consolas" panose="020B0609020204030204"/>
              </a:defRPr>
            </a:pPr>
            <a:r>
              <a:t>git checkout -b feature/custom-theme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45720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649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9184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主题开发 + 自主功能实现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20440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4A3B8"/>
                </a:solidFill>
                <a:latin typeface="Consolas" panose="020B0609020204030204"/>
              </a:defRPr>
            </a:pPr>
            <a:r>
              <a:t>5 文件修改 + 相关文章推荐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45720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67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9476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提交并 push 到 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023360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4A3B8"/>
                </a:solidFill>
                <a:latin typeface="Consolas" panose="020B0609020204030204"/>
              </a:defRPr>
            </a:pPr>
            <a:r>
              <a:t>git commit + git push origin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45720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7083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29768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创建 Pull Request 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526280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4A3B8"/>
                </a:solidFill>
                <a:latin typeface="Consolas" panose="020B0609020204030204"/>
              </a:defRPr>
            </a:pPr>
            <a:r>
              <a:t>feat: custom theme + related posts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00600"/>
            <a:ext cx="45720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737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8006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Code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029200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4A3B8"/>
                </a:solidFill>
                <a:latin typeface="Consolas" panose="020B0609020204030204"/>
              </a:defRPr>
            </a:pPr>
            <a:r>
              <a:t>评论记录：主题修改符合要求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03520"/>
            <a:ext cx="45720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3766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30352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Merge 到 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532120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4A3B8"/>
                </a:solidFill>
                <a:latin typeface="Consolas" panose="020B0609020204030204"/>
              </a:defRPr>
            </a:pPr>
            <a:r>
              <a:t>merge commit 65add9f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45720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795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80644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打 Tag v1.0-lab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6035040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4A3B8"/>
                </a:solidFill>
                <a:latin typeface="Consolas" panose="020B0609020204030204"/>
              </a:defRPr>
            </a:pPr>
            <a:r>
              <a:t>标记实验完成里程碑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GitHub 仓库主页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0" y="2057400"/>
            <a:ext cx="1645920" cy="0"/>
          </a:xfrm>
          <a:prstGeom prst="line">
            <a:avLst/>
          </a:prstGeom>
          <a:ln w="254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377440"/>
            <a:ext cx="5303520" cy="2524696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003087"/>
                </a:solidFill>
                <a:latin typeface="Consolas" panose="020B0609020204030204"/>
              </a:defRPr>
            </a:pPr>
            <a:r>
              <a:t>仓库地址：https://github.com/783287393/blog  |  分支：main + feature/custom-theme  |  共 6 个提交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Pull Request 与版本标签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PULL REQUEST &amp; TAG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Pull Request #1 - 已合并</a:t>
            </a:r>
          </a:p>
        </p:txBody>
      </p:sp>
      <p:pic>
        <p:nvPicPr>
          <p:cNvPr id="7" name="Picture 6" descr="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5303520" cy="28174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029200"/>
            <a:ext cx="5303520" cy="109728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PR 标题：feat(theme): custom theme oss-blog-theme with related posts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Code Review：主题修改符合要求，相关文章推荐逻辑清晰，文档完整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Merge Commit：65add9f  |  来源分支：feature/custom-theme →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Tag v1.0-lab - 实验里程碑</a:t>
            </a:r>
          </a:p>
        </p:txBody>
      </p:sp>
      <p:pic>
        <p:nvPicPr>
          <p:cNvPr id="11" name="Picture 10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303520" cy="255599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17920" y="5029200"/>
            <a:ext cx="5303520" cy="109728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标签名称：v1.0-lab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指向提交：65add9f（Merge PR #1）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意义：标记实验01完成的可复现版本，包含完整主题、自主功能和文档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3000" b="1">
                <a:solidFill>
                  <a:srgbClr val="001C54"/>
                </a:solidFill>
                <a:latin typeface="微软雅黑" panose="020B0503020204020204" charset="-122"/>
              </a:defRPr>
            </a:pPr>
            <a:r>
              <a:t>测试验证与总结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TESTING &amp; SUMMARY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64240" cy="0"/>
          </a:xfrm>
          <a:prstGeom prst="line">
            <a:avLst/>
          </a:prstGeom>
          <a:ln w="12700">
            <a:solidFill>
              <a:srgbClr val="D4E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测试验证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057400"/>
            <a:ext cx="1097280" cy="0"/>
          </a:xfrm>
          <a:prstGeom prst="line">
            <a:avLst/>
          </a:prstGeom>
          <a:ln w="254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2860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56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45/45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项测试全部通过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1645920" cy="64008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776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功能测试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12 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3931920"/>
            <a:ext cx="1645920" cy="64008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39776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权限测试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251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7 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931920"/>
            <a:ext cx="1645920" cy="64008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9776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界面测试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251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8 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1645920" cy="64008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恢复测试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6 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4754880"/>
            <a:ext cx="1645920" cy="64008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48006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自主功能测试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0749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5 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4754880"/>
            <a:ext cx="1645920" cy="640080"/>
          </a:xfrm>
          <a:prstGeom prst="rect">
            <a:avLst/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48006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其他测试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0749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0070BA"/>
                </a:solidFill>
                <a:latin typeface="微软雅黑" panose="020B0503020204020204" charset="-122"/>
              </a:defRPr>
            </a:pPr>
            <a:r>
              <a:t>7 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003087"/>
                </a:solidFill>
                <a:latin typeface="微软雅黑" panose="020B0503020204020204" charset="-122"/>
              </a:defRPr>
            </a:pPr>
            <a:r>
              <a:t>实验总结与收获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0" y="2057400"/>
            <a:ext cx="1828800" cy="0"/>
          </a:xfrm>
          <a:prstGeom prst="line">
            <a:avLst/>
          </a:prstGeom>
          <a:ln w="25400">
            <a:solidFill>
              <a:srgbClr val="00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0" y="22860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1. 掌握了 Ghost 博客系统的安装、配置与本地化运行</a:t>
            </a:r>
          </a:p>
          <a:p>
            <a:pPr algn="l">
              <a:lnSpc>
                <a:spcPct val="16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2. 理解了 Handlebars 模板引擎与 Ghost 主题开发机制</a:t>
            </a:r>
          </a:p>
          <a:p>
            <a:pPr algn="l">
              <a:lnSpc>
                <a:spcPct val="16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3. 完成了基于 Source 主题的自定义二次开发（5 文件修改）</a:t>
            </a:r>
          </a:p>
          <a:p>
            <a:pPr algn="l">
              <a:lnSpc>
                <a:spcPct val="16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4. 实现了相关文章推荐自主功能，掌握 Ghost Content API 用法</a:t>
            </a:r>
          </a:p>
          <a:p>
            <a:pPr algn="l">
              <a:lnSpc>
                <a:spcPct val="16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5. 建立了会员体系并验证评论互动功能，解决了 SMTP 依赖问题</a:t>
            </a:r>
          </a:p>
          <a:p>
            <a:pPr algn="l">
              <a:lnSpc>
                <a:spcPct val="16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6. 实践了 Git Feature Branch + Pull Request + Code Review 协作流程</a:t>
            </a:r>
          </a:p>
          <a:p>
            <a:pPr algn="l">
              <a:lnSpc>
                <a:spcPct val="160000"/>
              </a:lnSpc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7. 完成了 45 项测试验证与完整文档交付（README/NOTICE/测试记录）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FFFFFF"/>
                </a:solidFill>
                <a:latin typeface="Consolas" panose="020B0609020204030204"/>
              </a:defRPr>
            </a:pPr>
            <a:r>
              <a:t>GitHub 仓库：https://github.com/783287393/blog  |  Tag：v1.0-lab  |  最新提交：e57b04e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实验01 开源个人博客系统二次开发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4134</Words>
  <Application>WPS 演示</Application>
  <PresentationFormat>On-screen Show (4:3)</PresentationFormat>
  <Paragraphs>489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萧.</cp:lastModifiedBy>
  <cp:revision>2</cp:revision>
  <dcterms:created xsi:type="dcterms:W3CDTF">2013-01-27T09:14:00Z</dcterms:created>
  <dcterms:modified xsi:type="dcterms:W3CDTF">2026-09-10T12:31:31Z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64C3335688A74F849395F083AE322292_12</vt:lpwstr>
  </property>
  <property fmtid="{D5CDD505-2E9C-101B-9397-08002B2CF9AE}" pid="3" name="KSOProductBuildVer">
    <vt:lpwstr>2052-12.1.0.28043</vt:lpwstr>
  </property>
</Properties>
</file>